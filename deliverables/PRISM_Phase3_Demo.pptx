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5c75f2a6cd479e" /><Relationship Type="http://schemas.openxmlformats.org/officeDocument/2006/relationships/extended-properties" Target="/docProps/app.xml" Id="R99d2987862914c0f" /><Relationship Type="http://schemas.openxmlformats.org/officeDocument/2006/relationships/officeDocument" Target="/ppt/presentation.xml" Id="R8728758389ae40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af0d314f934961"/>
  </p:sldMasterIdLst>
  <p:notesMasterIdLst>
    <p:notesMasterId xmlns:r="http://schemas.openxmlformats.org/officeDocument/2006/relationships" r:id="Rccfb388b47f24694"/>
  </p:notesMasterIdLst>
  <p:sldIdLst>
    <p:sldId xmlns:r="http://schemas.openxmlformats.org/officeDocument/2006/relationships" id="256" r:id="R2ef5ee5e4ddb4340"/>
    <p:sldId xmlns:r="http://schemas.openxmlformats.org/officeDocument/2006/relationships" id="257" r:id="R8e0da6279d924601"/>
    <p:sldId xmlns:r="http://schemas.openxmlformats.org/officeDocument/2006/relationships" id="258" r:id="R3b56b5b5ac50454d"/>
    <p:sldId xmlns:r="http://schemas.openxmlformats.org/officeDocument/2006/relationships" id="259" r:id="Rb6448855780642a9"/>
    <p:sldId xmlns:r="http://schemas.openxmlformats.org/officeDocument/2006/relationships" id="260" r:id="R30fa1f12539e45f0"/>
    <p:sldId xmlns:r="http://schemas.openxmlformats.org/officeDocument/2006/relationships" id="261" r:id="R3f7f92d03d254a96"/>
    <p:sldId xmlns:r="http://schemas.openxmlformats.org/officeDocument/2006/relationships" id="262" r:id="Rc9cead7aa1064d04"/>
    <p:sldId xmlns:r="http://schemas.openxmlformats.org/officeDocument/2006/relationships" id="263" r:id="R3fbc4f50fe5d4d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35f43e67d1471c" /><Relationship Type="http://schemas.openxmlformats.org/officeDocument/2006/relationships/slideMaster" Target="/ppt/slideMasters/slideMaster1.xml" Id="R69af0d314f934961" /><Relationship Type="http://schemas.openxmlformats.org/officeDocument/2006/relationships/notesMaster" Target="/ppt/notesMasters/notesMaster1.xml" Id="Rccfb388b47f24694" /><Relationship Type="http://schemas.openxmlformats.org/officeDocument/2006/relationships/presProps" Target="/ppt/presProps.xml" Id="R9d5aa729c8c041bd" /><Relationship Type="http://schemas.openxmlformats.org/officeDocument/2006/relationships/tableStyles" Target="/ppt/tableStyles.xml" Id="Rab0a9348266f40a6" /><Relationship Type="http://schemas.openxmlformats.org/officeDocument/2006/relationships/slide" Target="/ppt/slides/slide1.xml" Id="R2ef5ee5e4ddb4340" /><Relationship Type="http://schemas.openxmlformats.org/officeDocument/2006/relationships/slide" Target="/ppt/slides/slide2.xml" Id="R8e0da6279d924601" /><Relationship Type="http://schemas.openxmlformats.org/officeDocument/2006/relationships/slide" Target="/ppt/slides/slide3.xml" Id="R3b56b5b5ac50454d" /><Relationship Type="http://schemas.openxmlformats.org/officeDocument/2006/relationships/slide" Target="/ppt/slides/slide4.xml" Id="Rb6448855780642a9" /><Relationship Type="http://schemas.openxmlformats.org/officeDocument/2006/relationships/slide" Target="/ppt/slides/slide5.xml" Id="R30fa1f12539e45f0" /><Relationship Type="http://schemas.openxmlformats.org/officeDocument/2006/relationships/slide" Target="/ppt/slides/slide6.xml" Id="R3f7f92d03d254a96" /><Relationship Type="http://schemas.openxmlformats.org/officeDocument/2006/relationships/slide" Target="/ppt/slides/slide7.xml" Id="Rc9cead7aa1064d04" /><Relationship Type="http://schemas.openxmlformats.org/officeDocument/2006/relationships/slide" Target="/ppt/slides/slide8.xml" Id="R3fbc4f50fe5d4d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5e294b26764f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2daf02fbe34f2c" /><Relationship Type="http://schemas.openxmlformats.org/officeDocument/2006/relationships/notesMaster" Target="/ppt/notesMasters/notesMaster1.xml" Id="Rb55293380fcd43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439c98a7424b39" /><Relationship Type="http://schemas.openxmlformats.org/officeDocument/2006/relationships/notesMaster" Target="/ppt/notesMasters/notesMaster1.xml" Id="Rc485620c5ed64a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e350610c1a4b2d" /><Relationship Type="http://schemas.openxmlformats.org/officeDocument/2006/relationships/notesMaster" Target="/ppt/notesMasters/notesMaster1.xml" Id="Rceee195ad8994d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583a5e335840f5" /><Relationship Type="http://schemas.openxmlformats.org/officeDocument/2006/relationships/notesMaster" Target="/ppt/notesMasters/notesMaster1.xml" Id="Rb70306ddb7cc4d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e914974896462b" /><Relationship Type="http://schemas.openxmlformats.org/officeDocument/2006/relationships/notesMaster" Target="/ppt/notesMasters/notesMaster1.xml" Id="Rf9b277ddcbb340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e303f318df47c2" /><Relationship Type="http://schemas.openxmlformats.org/officeDocument/2006/relationships/notesMaster" Target="/ppt/notesMasters/notesMaster1.xml" Id="R8c79afd7e63842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94f98d242e4f71" /><Relationship Type="http://schemas.openxmlformats.org/officeDocument/2006/relationships/notesMaster" Target="/ppt/notesMasters/notesMaster1.xml" Id="Rb5f230ba823147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8968e1df324911" /><Relationship Type="http://schemas.openxmlformats.org/officeDocument/2006/relationships/notesMaster" Target="/ppt/notesMasters/notesMaster1.xml" Id="R54ebe6fd31b64c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 from the PRISM Phase 3 branch, 23 October 2026. See docs/PHASE3_COMPLETION.md and reports/phase3_*.json.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data/topology/delhi/RECONCILIATION.md; reports/phase3_station_feed.json. All metrics are limited to their declared source, workload and evaluation protocol.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reports/phase3_history_audit.json. All metrics are limited to their declared source, workload and evaluation protocol.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reports/phase3_real_forecasting.json; reports/phase3_metrics.json. All metrics are limited to their declared source, workload and evaluation protocol.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reports/phase3_surrogate.json; reports/phase3_explanations.json; reports/phase3_metrics.json. All metrics are limited to their declared source, workload and evaluation protocol.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reports/phase3_operations.json; docs/OPERATIONS.md. All metrics are limited to their declared source, workload and evaluation protocol.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reports/phase3_deployment.json; reports/phase3_resources.json; reports/phase3_retraining.json. All metrics are limited to their declared source, workload and evaluation protocol.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docs/PHASE3_COMPLETION.md; docs/PHASE3_DEMO.md. All metrics are limited to their declared source, workload and evaluation protocol.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71a7fa30c6420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d2e49ae36f44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f616e80d7649a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581eee549e47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dbb551a05a471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6f9facd5c64a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6E263F-78D9-4125-870D-15EB5D4BE2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A29392-5043-4DA9-9851-CC5019F2BA3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55120AE-F8F3-4755-8286-EF6CC8FFF3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D2A4F2-89E2-4E6F-9836-516C0AFD83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811E5C5-58AB-4032-9550-ED222229E3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ED619F7-979D-41F4-8DC1-951A1BDC8D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30B9E2-F44E-44C0-9A02-A938300D0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D94FBEC-FCC6-43FC-B633-E1C0479730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574ACF-BA43-4ED9-AFC6-ED253BDE4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0D8103-4FA9-4647-B15B-34E2D883D9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c5d6a480944d52" /><Relationship Type="http://schemas.openxmlformats.org/officeDocument/2006/relationships/slideLayout" Target="/ppt/slideLayouts/slideLayout1.xml" Id="R09d13c23ce754ee5" /><Relationship Type="http://schemas.openxmlformats.org/officeDocument/2006/relationships/slideLayout" Target="/ppt/slideLayouts/slideLayout2.xml" Id="Rebde03d312ee4115" /><Relationship Type="http://schemas.openxmlformats.org/officeDocument/2006/relationships/slideLayout" Target="/ppt/slideLayouts/slideLayout3.xml" Id="R78f5bc01ce034bb1" /><Relationship Type="http://schemas.openxmlformats.org/officeDocument/2006/relationships/slideLayout" Target="/ppt/slideLayouts/slideLayout4.xml" Id="R3bfd996f28af4ad4" /><Relationship Type="http://schemas.openxmlformats.org/officeDocument/2006/relationships/slideLayout" Target="/ppt/slideLayouts/slideLayout5.xml" Id="R731f82041bd749d0" /><Relationship Type="http://schemas.openxmlformats.org/officeDocument/2006/relationships/slideLayout" Target="/ppt/slideLayouts/slideLayout6.xml" Id="R8a567ad6acea4e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d13c23ce754ee5"/>
    <p:sldLayoutId xmlns:r="http://schemas.openxmlformats.org/officeDocument/2006/relationships" id="2147483650" r:id="Rebde03d312ee4115"/>
    <p:sldLayoutId xmlns:r="http://schemas.openxmlformats.org/officeDocument/2006/relationships" id="2147483651" r:id="R78f5bc01ce034bb1"/>
    <p:sldLayoutId xmlns:r="http://schemas.openxmlformats.org/officeDocument/2006/relationships" id="2147483652" r:id="R3bfd996f28af4ad4"/>
    <p:sldLayoutId xmlns:r="http://schemas.openxmlformats.org/officeDocument/2006/relationships" id="2147483653" r:id="R731f82041bd749d0"/>
    <p:sldLayoutId xmlns:r="http://schemas.openxmlformats.org/officeDocument/2006/relationships" id="2147483654" r:id="R8a567ad6acea4e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21d7c3d0ea4e75" /><Relationship Type="http://schemas.openxmlformats.org/officeDocument/2006/relationships/notesSlide" Target="/ppt/notesSlides/notesSlide1.xml" Id="R95a0e5ff818c43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74c68558f24fea" /><Relationship Type="http://schemas.openxmlformats.org/officeDocument/2006/relationships/notesSlide" Target="/ppt/notesSlides/notesSlide2.xml" Id="R4876c8893b1d48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6fec7f63994fc2" /><Relationship Type="http://schemas.openxmlformats.org/officeDocument/2006/relationships/notesSlide" Target="/ppt/notesSlides/notesSlide3.xml" Id="R652a5aba7ae24a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b995f24e6c4255" /><Relationship Type="http://schemas.openxmlformats.org/officeDocument/2006/relationships/chart" Target="/ppt/slides/charts/chart1.xml" Id="Rd383a00490714025" /><Relationship Type="http://schemas.openxmlformats.org/officeDocument/2006/relationships/notesSlide" Target="/ppt/notesSlides/notesSlide4.xml" Id="R81fb57e8ad574b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a6f30fd0304d8c" /><Relationship Type="http://schemas.openxmlformats.org/officeDocument/2006/relationships/notesSlide" Target="/ppt/notesSlides/notesSlide5.xml" Id="Raad533f1ee4d4f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b12efe8ac04362" /><Relationship Type="http://schemas.openxmlformats.org/officeDocument/2006/relationships/notesSlide" Target="/ppt/notesSlides/notesSlide6.xml" Id="R8d334d26067c48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198e622cc44c13" /><Relationship Type="http://schemas.openxmlformats.org/officeDocument/2006/relationships/notesSlide" Target="/ppt/notesSlides/notesSlide7.xml" Id="R7dcba961bc534a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4fb9e1e2984499" /><Relationship Type="http://schemas.openxmlformats.org/officeDocument/2006/relationships/notesSlide" Target="/ppt/notesSlides/notesSlide8.xml" Id="Rcb09ac387c24437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RMSE (MW)</c:v>
          </c:tx>
          <c:spPr>
            <a:solidFill xmlns:a="http://schemas.openxmlformats.org/drawingml/2006/main">
              <a:srgbClr val="69D5C2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Persistence</c:v>
                </c:pt>
                <c:pt idx="1">
                  <c:v>Autoregression</c:v>
                </c:pt>
                <c:pt idx="2">
                  <c:v>LSTM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732.42</c:v>
                </c:pt>
                <c:pt idx="1">
                  <c:v>426.54</c:v>
                </c:pt>
                <c:pt idx="2">
                  <c:v>758.4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3E0E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3E0E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01F2E"/>
        </a:solidFill>
      </c:spPr>
    </c:plotArea>
    <c:plotVisOnly val="1"/>
  </c:chart>
  <c:spPr>
    <a:solidFill xmlns:a="http://schemas.openxmlformats.org/drawingml/2006/main">
      <a:srgbClr val="101F2E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F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8914E-14F2-4267-8839-6591AE49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PRISM · Phase 3 integration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5FE33-0109-4FBC-8268-89E46351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3E0E8"/>
                </a:solidFill>
                <a:latin typeface="Arial"/>
                <a:ea typeface="Arial"/>
                <a:cs typeface="Arial"/>
              </a:rPr>
              <a:t>Implementation, measured results and remaining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4F1D4-A9E8-4941-AEF8-CF5A36D5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483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9D5C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9D5C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9D5C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9D5C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9D5C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9D5C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9D5C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9D5C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9D5C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9D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9D5C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D5C2"/>
                </a:solidFill>
                <a:latin typeface="Arial"/>
                <a:ea typeface="Arial"/>
                <a:cs typeface="Arial"/>
              </a:rPr>
              <a:t>23 October 2026 · Advisory prototype</a:t>
            </a:r>
          </a:p>
        </p:txBody>
      </p:sp>
    </p:spTree>
    <p:extLst>
      <p:ext uri="{BB962C8B-B14F-4D97-AF65-F5344CB8AC3E}">
        <p14:creationId xmlns:p14="http://schemas.microsoft.com/office/powerpoint/2010/main" val="481486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F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253F0-293D-4154-8DE3-19F557C3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Reference topology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65CEE-352C-4422-BCDB-502C1854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9D5C2"/>
                </a:solidFill>
                <a:latin typeface="Arial"/>
                <a:ea typeface="Arial"/>
                <a:cs typeface="Arial"/>
              </a:rPr>
              <a:t>66 canonical assets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21DD8-822E-43E4-80D3-906C1352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0763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3E0E8"/>
                </a:solidFill>
                <a:latin typeface="Arial"/>
                <a:ea typeface="Arial"/>
                <a:cs typeface="Arial"/>
              </a:rPr>
              <a:t>50 qualifying Delhi asset identities meet the report’s reference count.</a:t>
            </a:r>
          </a:p>
          <a:p xmlns:a="http://schemas.openxmlformats.org/drawingml/2006/main">
            <a: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3E0E8"/>
                </a:solidFill>
                <a:latin typeface="Arial"/>
                <a:ea typeface="Arial"/>
                <a:cs typeface="Arial"/>
              </a:rPr>
              <a:t>245 dated circuit observations and 16 interface assertions remain inspectable.</a:t>
            </a:r>
          </a:p>
          <a:p xmlns:a="http://schemas.openxmlformats.org/drawingml/2006/main">
            <a: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3E0E8"/>
                </a:solidFill>
                <a:latin typeface="Arial"/>
                <a:ea typeface="Arial"/>
                <a:cs typeface="Arial"/>
              </a:rPr>
              <a:t>49 source station labels map to loading measurements; 17 assets have no eligible feed.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6FB26-F9AD-4D58-92FA-80DAB796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C58A"/>
                </a:solidFill>
                <a:latin typeface="Arial"/>
                <a:ea typeface="Arial"/>
                <a:cs typeface="Arial"/>
              </a:rPr>
              <a:t>Reference identity and source coverage do not certify current switching, line limits or electrical simulation readiness.</a:t>
            </a:r>
          </a:p>
        </p:txBody>
      </p:sp>
    </p:spTree>
    <p:extLst>
      <p:ext uri="{BB962C8B-B14F-4D97-AF65-F5344CB8AC3E}">
        <p14:creationId xmlns:p14="http://schemas.microsoft.com/office/powerpoint/2010/main" val="2417156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F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4268A-075C-44CB-90DB-11A2076D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Real demand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B7F68-5AE4-4810-B2B7-87F3A724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9D5C2"/>
                </a:solidFill>
                <a:latin typeface="Arial"/>
                <a:ea typeface="Arial"/>
                <a:cs typeface="Arial"/>
              </a:rPr>
              <a:t>720 of 730 days captured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AF1C2-288D-4092-8E03-766D2F19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0763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3E0E8"/>
                </a:solidFill>
                <a:latin typeface="Arial"/>
                <a:ea typeface="Arial"/>
                <a:cs typeface="Arial"/>
              </a:rPr>
              <a:t>203,870 valid five-minute observations support 16,965 eligible hourly means.</a:t>
            </a:r>
          </a:p>
          <a:p xmlns:a="http://schemas.openxmlformats.org/drawingml/2006/main">
            <a: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3E0E8"/>
                </a:solidFill>
                <a:latin typeface="Arial"/>
                <a:ea typeface="Arial"/>
                <a:cs typeface="Arial"/>
              </a:rPr>
              <a:t>555 missing or insufficient hours remain missing.</a:t>
            </a:r>
          </a:p>
          <a:p xmlns:a="http://schemas.openxmlformats.org/drawingml/2006/main">
            <a: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3E0E8"/>
                </a:solidFill>
                <a:latin typeface="Arial"/>
                <a:ea typeface="Arial"/>
                <a:cs typeface="Arial"/>
              </a:rPr>
              <a:t>Raw fingerprints, UTC conversion and PostgreSQL rows preserve the audit trail.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73150-4A67-4CB4-BB46-1C1C2D6C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C58A"/>
                </a:solidFill>
                <a:latin typeface="Arial"/>
                <a:ea typeface="Arial"/>
                <a:cs typeface="Arial"/>
              </a:rPr>
              <a:t>Citywide Delhi demand only. Audited real solar/wind histories remain unavailable.</a:t>
            </a:r>
          </a:p>
        </p:txBody>
      </p:sp>
    </p:spTree>
    <p:extLst>
      <p:ext uri="{BB962C8B-B14F-4D97-AF65-F5344CB8AC3E}">
        <p14:creationId xmlns:p14="http://schemas.microsoft.com/office/powerpoint/2010/main" val="3815173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F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8DF8B-33A7-46F3-9BA0-2DA4BCCF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24-hour demand forecasts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603A0-E524-489B-B8CE-E244578D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9D5C2"/>
                </a:solidFill>
                <a:latin typeface="Arial"/>
                <a:ea typeface="Arial"/>
                <a:cs typeface="Arial"/>
              </a:rPr>
              <a:t>Autoregression leads this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86A89-88A6-4309-9553-CF038993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3E0E8"/>
                </a:solidFill>
                <a:latin typeface="Arial"/>
                <a:ea typeface="Arial"/>
                <a:cs typeface="Arial"/>
              </a:rPr>
              <a:t>46 held-out daily origins · 1,104 frozen forecast hours · RMSE in MW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CABC5-6B97-4975-BD85-0684B485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C58A"/>
                </a:solidFill>
                <a:latin typeface="Arial"/>
                <a:ea typeface="Arial"/>
                <a:cs typeface="Arial"/>
              </a:rPr>
              <a:t>LSTM misses the normalized error targets. Empirical 90% bands have measured coverage, not a guarantee.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63ECD030-C7C6-44C0-B9A5-B8F536738DB3}"/>
              </a:ext>
            </a:extLst>
          </p:cNvPr>
          <p:cNvGraphicFramePr/>
          <p:nvPr/>
        </p:nvGraphicFramePr>
        <p:xfrm>
          <a:off xmlns:a="http://schemas.openxmlformats.org/drawingml/2006/main" x="666750" y="3095625"/>
          <a:ext xmlns:a="http://schemas.openxmlformats.org/drawingml/2006/main" cx="10763250" cy="1857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83a00490714025"/>
          </a:graphicData>
        </a:graphic>
      </p:graphicFrame>
    </p:spTree>
    <p:extLst>
      <p:ext uri="{BB962C8B-B14F-4D97-AF65-F5344CB8AC3E}">
        <p14:creationId xmlns:p14="http://schemas.microsoft.com/office/powerpoint/2010/main" val="13528098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F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9AB0E-7618-44C7-BDC8-64A8746B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Policy and explanations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5E05D-8DE0-4013-948E-AED01F83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9D5C2"/>
                </a:solidFill>
                <a:latin typeface="Arial"/>
                <a:ea typeface="Arial"/>
                <a:cs typeface="Arial"/>
              </a:rPr>
              <a:t>97.62% held-out policy agreement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A2867-41BD-4793-90B5-2F54D3A1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0763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3E0E8"/>
                </a:solidFill>
                <a:latin typeface="Arial"/>
                <a:ea typeface="Arial"/>
                <a:cs typeface="Arial"/>
              </a:rPr>
              <a:t>Six-action XGBoost imitates the frozen synthetic Q-policy.</a:t>
            </a:r>
          </a:p>
          <a:p xmlns:a="http://schemas.openxmlformats.org/drawingml/2006/main">
            <a: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3E0E8"/>
                </a:solidFill>
                <a:latin typeface="Arial"/>
                <a:ea typeface="Arial"/>
                <a:cs typeface="Arial"/>
              </a:rPr>
              <a:t>TreeSHAP explains the actual surrogate score using 100 training samples.</a:t>
            </a:r>
          </a:p>
          <a:p xmlns:a="http://schemas.openxmlformats.org/drawingml/2006/main">
            <a: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3E0E8"/>
                </a:solidFill>
                <a:latin typeface="Arial"/>
                <a:ea typeface="Arial"/>
                <a:cs typeface="Arial"/>
              </a:rPr>
              <a:t>The interface exposes disagreements and score-based abstention.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6C985-FC3A-4BB8-9FA6-56182CAD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C58A"/>
                </a:solidFill>
                <a:latin typeface="Arial"/>
                <a:ea typeface="Arial"/>
                <a:cs typeface="Arial"/>
              </a:rPr>
              <a:t>Fidelity does not establish dispatch quality. Q-policy cost is 14.44% higher than the synthetic rule baseline.</a:t>
            </a:r>
          </a:p>
        </p:txBody>
      </p:sp>
    </p:spTree>
    <p:extLst>
      <p:ext uri="{BB962C8B-B14F-4D97-AF65-F5344CB8AC3E}">
        <p14:creationId xmlns:p14="http://schemas.microsoft.com/office/powerpoint/2010/main" val="9406668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F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6E96A-113A-455A-840A-11177DCE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Advisory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A8925-B0DB-42DF-B7DD-090F86F5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9D5C2"/>
                </a:solidFill>
                <a:latin typeface="Arial"/>
                <a:ea typeface="Arial"/>
                <a:cs typeface="Arial"/>
              </a:rPr>
              <a:t>Explicit human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93156-6BF5-47AA-93E5-A5B4D86D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0763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3E0E8"/>
                </a:solidFill>
                <a:latin typeface="Arial"/>
                <a:ea typeface="Arial"/>
                <a:cs typeface="Arial"/>
              </a:rPr>
              <a:t>Background scenarios support status, cancellation, retries and recovery.</a:t>
            </a:r>
          </a:p>
          <a:p xmlns:a="http://schemas.openxmlformats.org/drawingml/2006/main">
            <a: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3E0E8"/>
                </a:solidFill>
                <a:latin typeface="Arial"/>
                <a:ea typeface="Arial"/>
                <a:cs typeface="Arial"/>
              </a:rPr>
              <a:t>Accepted and overridden advice records the operator label, reason and model evidence.</a:t>
            </a:r>
          </a:p>
          <a:p xmlns:a="http://schemas.openxmlformats.org/drawingml/2006/main">
            <a: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3E0E8"/>
                </a:solidFill>
                <a:latin typeface="Arial"/>
                <a:ea typeface="Arial"/>
                <a:cs typeface="Arial"/>
              </a:rPr>
              <a:t>Graph paths and alarm timing produce investigation hypotheses.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6108B-7629-4981-BBEC-315826A1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C58A"/>
                </a:solidFill>
                <a:latin typeface="Arial"/>
                <a:ea typeface="Arial"/>
                <a:cs typeface="Arial"/>
              </a:rPr>
              <a:t>Decisions send no equipment commands. Operator labels and software tests are not operator-survey evidence.</a:t>
            </a:r>
          </a:p>
        </p:txBody>
      </p:sp>
    </p:spTree>
    <p:extLst>
      <p:ext uri="{BB962C8B-B14F-4D97-AF65-F5344CB8AC3E}">
        <p14:creationId xmlns:p14="http://schemas.microsoft.com/office/powerpoint/2010/main" val="19173243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F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811EA-B79D-4F17-8BDD-D4501303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Deployment and retraining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E9A36-B08C-4F65-9649-8DDD88B8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9D5C2"/>
                </a:solidFill>
                <a:latin typeface="Arial"/>
                <a:ea typeface="Arial"/>
                <a:cs typeface="Arial"/>
              </a:rPr>
              <a:t>Seven services verified locally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1A7E9-1D51-4226-BAB4-27A5A0A3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0763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3E0E8"/>
                </a:solidFill>
                <a:latin typeface="Arial"/>
                <a:ea typeface="Arial"/>
                <a:cs typeface="Arial"/>
              </a:rPr>
              <a:t>Gunicorn, worker, scheduler, collector, Redis, PostgreSQL and Neo4j run together.</a:t>
            </a:r>
          </a:p>
          <a:p xmlns:a="http://schemas.openxmlformats.org/drawingml/2006/main">
            <a: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3E0E8"/>
                </a:solidFill>
                <a:latin typeface="Arial"/>
                <a:ea typeface="Arial"/>
                <a:cs typeface="Arial"/>
              </a:rPr>
              <a:t>A candidate without sufficient validation improvement retains the current model.</a:t>
            </a:r>
          </a:p>
          <a:p xmlns:a="http://schemas.openxmlformats.org/drawingml/2006/main">
            <a: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3E0E8"/>
                </a:solidFill>
                <a:latin typeface="Arial"/>
                <a:ea typeface="Arial"/>
                <a:cs typeface="Arial"/>
              </a:rPr>
              <a:t>Atomic version pointers support promotion and rollback.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7717A-22C8-40E1-91A2-CE1A82B9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C58A"/>
                </a:solidFill>
                <a:latin typeface="Arial"/>
                <a:ea typeface="Arial"/>
                <a:cs typeface="Arial"/>
              </a:rPr>
              <a:t>Observed 8 GB host; every component stayed below 4 GB in a short test. Long-term availability remains unmeasured.</a:t>
            </a:r>
          </a:p>
        </p:txBody>
      </p:sp>
    </p:spTree>
    <p:extLst>
      <p:ext uri="{BB962C8B-B14F-4D97-AF65-F5344CB8AC3E}">
        <p14:creationId xmlns:p14="http://schemas.microsoft.com/office/powerpoint/2010/main" val="17528576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F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7B5BC-5AEA-493B-B516-9C1EB763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Remaining validation and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22951-B6E9-49F2-BBAD-3380D8C1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69D5C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9D5C2"/>
                </a:solidFill>
                <a:latin typeface="Arial"/>
                <a:ea typeface="Arial"/>
                <a:cs typeface="Arial"/>
              </a:rPr>
              <a:t>Research acceptance remains separate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0A725-B54B-4B03-875A-C7F9B159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0763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3E0E8"/>
                </a:solidFill>
                <a:latin typeface="Arial"/>
                <a:ea typeface="Arial"/>
                <a:cs typeface="Arial"/>
              </a:rPr>
              <a:t>Current electrical parameters and physical cascade/frequency validation</a:t>
            </a:r>
          </a:p>
          <a:p xmlns:a="http://schemas.openxmlformats.org/drawingml/2006/main">
            <a: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3E0E8"/>
                </a:solidFill>
                <a:latin typeface="Arial"/>
                <a:ea typeface="Arial"/>
                <a:cs typeface="Arial"/>
              </a:rPr>
              <a:t>Audited renewable history and improved learned-policy outcomes</a:t>
            </a:r>
          </a:p>
          <a:p xmlns:a="http://schemas.openxmlformats.org/drawingml/2006/main">
            <a:pPr>
              <a:defRPr sz="2175" b="0">
                <a:solidFill>
                  <a:srgbClr val="D3E0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3E0E8"/>
                </a:solidFill>
                <a:latin typeface="Arial"/>
                <a:ea typeface="Arial"/>
                <a:cs typeface="Arial"/>
              </a:rPr>
              <a:t>Qualified operator feedback and long-term service availability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F6E13-D7AB-4EE9-9B01-EDFEBBC0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6C5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C58A"/>
                </a:solidFill>
                <a:latin typeface="Arial"/>
                <a:ea typeface="Arial"/>
                <a:cs typeface="Arial"/>
              </a:rPr>
              <a:t>Demo: inspect reference → check source age → forecast → run scenario → review explanation → record advisory decision → inspect hypotheses</a:t>
            </a:r>
          </a:p>
        </p:txBody>
      </p:sp>
    </p:spTree>
    <p:extLst>
      <p:ext uri="{BB962C8B-B14F-4D97-AF65-F5344CB8AC3E}">
        <p14:creationId xmlns:p14="http://schemas.microsoft.com/office/powerpoint/2010/main" val="18241041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2026-10-23T10:26:44.2620000Z</dcterms:created>
  <dcterms:modified xsi:type="dcterms:W3CDTF">2026-10-23T10:26:44.2620000Z</dcterms:modified>
</coreProperties>
</file>